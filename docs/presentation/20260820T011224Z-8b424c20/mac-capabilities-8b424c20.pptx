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describes MAC at commit 8b424c20 and nothing later. It was built by auditing the</a:t>
            </a:r>
          </a:p>
          <a:p>
            <a:r>
              <a:t>source and docs directly rather than from memory, and AUDIT.md traces every number back to the</a:t>
            </a:r>
          </a:p>
          <a:p>
            <a:r>
              <a:t>file or commit it came from.</a:t>
            </a:r>
          </a:p>
          <a:p/>
          <a:p>
            <a:r>
              <a:t>Open by saying what MAC is NOT: it is not a chat agent, not an IDE, and not a model. It is the</a:t>
            </a:r>
          </a:p>
          <a:p>
            <a:r>
              <a:t>durable operational record underneath a fleet of coding agents.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line to land: MAC owns what must survive a crash; the runtime above it owns what must feel</a:t>
            </a:r>
          </a:p>
          <a:p>
            <a:r>
              <a:t>like a conversation.</a:t>
            </a:r>
          </a:p>
          <a:p/>
          <a:p>
            <a:r>
              <a:t>The retirement of the command-and-control dashboard is worth calling out — it is the clearest</a:t>
            </a:r>
          </a:p>
          <a:p>
            <a:r>
              <a:t>signal of the direction of travel. The console can no longer mutate the control plane at all.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everything MAC does is expressed against four nouns.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CLI is not a wrapper over the object model — it IS the object model. project, task, agent,</a:t>
            </a:r>
          </a:p>
          <a:p>
            <a:r>
              <a:t>admin, 123 verbs.</a:t>
            </a:r>
          </a:p>
          <a:p/>
          <a:p>
            <a:r>
              <a:t>Two details worth pointing at: recovery is a first-class set of verbs rather than an incident</a:t>
            </a:r>
          </a:p>
          <a:p>
            <a:r>
              <a:t>runbook, and break-glass is grantable, listable and revocable, so an emergency leaves a record</a:t>
            </a:r>
          </a:p>
          <a:p>
            <a:r>
              <a:t>instead of an ambient permission.</a:t>
            </a:r>
          </a:p>
          <a:p/>
          <a:p>
            <a:r>
              <a:t>The bottom band matters for integrators: six surfaces, one dispatch seam, and a contract test</a:t>
            </a:r>
          </a:p>
          <a:p>
            <a:r>
              <a:t>that proves the Python client and the hub agree about the route table.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Eleven states, three terminal. The default list view shows non-terminal work, because the useful</a:t>
            </a:r>
          </a:p>
          <a:p>
            <a:r>
              <a:t>question is "what still wants something from somebody".</a:t>
            </a:r>
          </a:p>
          <a:p/>
          <a:p>
            <a:r>
              <a:t>The four gates are the real content: a lease and fence authorize every mutation, evidence is typed</a:t>
            </a:r>
          </a:p>
          <a:p>
            <a:r>
              <a:t>and bound to one exact attempt, review must come from a different agent AND a different model, and</a:t>
            </a:r>
          </a:p>
          <a:p>
            <a:r>
              <a:t>landing goes through a speculative merge queue whose invariant is "never land an untested tree".</a:t>
            </a:r>
          </a:p>
          <a:p/>
          <a:p>
            <a:r>
              <a:t>If asked why MAC built its own merge queue: GitHub's is organization-only, verified by API against</a:t>
            </a:r>
          </a:p>
          <a:p>
            <a:r>
              <a:t>the live repo — HTTP 422 on a user-owned repository.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the coordination model changed shape recently, and deliberately.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AgentBus became a broadcast bus. Point-to-point messages are no longer private,</a:t>
            </a:r>
          </a:p>
          <a:p>
            <a:r>
              <a:t>because an agent told "worker-2 already rebased that branch" cannot verify it without reading</a:t>
            </a:r>
          </a:p>
          <a:p>
            <a:r>
              <a:t>worker-2's stream.</a:t>
            </a:r>
          </a:p>
          <a:p/>
          <a:p>
            <a:r>
              <a:t>The motivating incidents are real and on the record — a `git add -A` moments from sweeping ~1,200</a:t>
            </a:r>
          </a:p>
          <a:p>
            <a:r>
              <a:t>lines of another agent's work into an unrelated commit, and a `git commit -a` that did.</a:t>
            </a:r>
          </a:p>
          <a:p/>
          <a:p>
            <a:r>
              <a:t>Note the human is a participant on the bus, not a controller above it, and that stand_down and</a:t>
            </a:r>
          </a:p>
          <a:p>
            <a:r>
              <a:t>abort are deliberately separate verbs. One carve-out: raw terminal streams stay participant-scoped</a:t>
            </a:r>
          </a:p>
          <a:p>
            <a:r>
              <a:t>because they carry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 does not pretend the fleet is homogeneous. macOS nodes are host installs under launchd — an</a:t>
            </a:r>
          </a:p>
          <a:p>
            <a:r>
              <a:t>earlier attempt to containerize them was superseded. Linux nodes run a native steward with</a:t>
            </a:r>
          </a:p>
          <a:p>
            <a:r>
              <a:t>containerized execution. Kubernetes and HGX provide elastic capacity.</a:t>
            </a:r>
          </a:p>
          <a:p/>
          <a:p>
            <a:r>
              <a:t>Five coding-agent routes, and the sandbox derives which are available from the router rather than</a:t>
            </a:r>
          </a:p>
          <a:p>
            <a:r>
              <a:t>hardcoding a list.</a:t>
            </a:r>
          </a:p>
          <a:p/>
          <a:p>
            <a:r>
              <a:t>The identity band is the one auditors care about: secrets are handles with audit records, output</a:t>
            </a:r>
          </a:p>
          <a:p>
            <a:r>
              <a:t>is redacted, and egress is declared per project and per task.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the most interesting capability is that MAC can prove itself wrong.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SLIDE. Left: what MAC measures — review experiments with pre-registered arms and a blind</a:t>
            </a:r>
          </a:p>
          <a:p>
            <a:r>
              <a:t>treatment, a scientific optimizer that only ever emits a policy candidate, a dreaming pipeline</a:t>
            </a:r>
          </a:p>
          <a:p>
            <a:r>
              <a:t>where memory must SHRINK to be promoted, and operational learning that changes routing.</a:t>
            </a:r>
          </a:p>
          <a:p/>
          <a:p>
            <a:r>
              <a:t>Right: what those measurements actually found, dated. 29.5% of model routes recorded no input</a:t>
            </a:r>
          </a:p>
          <a:p>
            <a:r>
              <a:t>tokens; none reported cache hits. 165 of 355 blocked tasks are permanently dead.</a:t>
            </a:r>
          </a:p>
          <a:p/>
          <a:p>
            <a:r>
              <a:t>Bottom: three open ADRs, all raised in the last three days, each caused by a measurement rather</a:t>
            </a:r>
          </a:p>
          <a:p>
            <a:r>
              <a:t>than an opinion. That is the point of the slide — the instrumentation is what generated the</a:t>
            </a:r>
          </a:p>
          <a:p>
            <a:r>
              <a:t>backlog.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this table aloud. Use it to make one point: this is not a prototype, and the</a:t>
            </a:r>
          </a:p>
          <a:p>
            <a:r>
              <a:t>documentation is generated from the running system rather than written alongside it.</a:t>
            </a:r>
          </a:p>
          <a:p/>
          <a:p>
            <a:r>
              <a:t>The generated CLI and OpenAPI references are checked in CI, so a drifted doc fails the build.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earns the rest of the deck. In front of engineers, naming the five</a:t>
            </a:r>
          </a:p>
          <a:p>
            <a:r>
              <a:t>weakest points yourself is what makes the capability claims credible.</a:t>
            </a:r>
          </a:p>
          <a:p/>
          <a:p>
            <a:r>
              <a:t>The README staleness is a real finding from this audit and is worth fixing separately.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convention rather than a summary: decks are cheap to regenerate and are pinned to a</a:t>
            </a:r>
          </a:p>
          <a:p>
            <a:r>
              <a:t>commit, so nobody has to wonder whether a slide is still true — they can check the hash.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F3A45"/>
        </a:solidFill>
        <a:effectLst/>
      </p:bgPr>
    </p:bg>
    <p:spTree>
      <p:nvGrpSpPr>
        <p:cNvPr id="1" name=""/>
        <p:cNvGrpSpPr/>
        <p:nvPr/>
      </p:nvGrpSpPr>
      <p:grpSpPr/>
      <p:sp>
        <p:nvSpPr>
          <p:cNvPr id="2" name="TextBox 1"/>
          <p:cNvSpPr txBox="1"/>
          <p:nvPr/>
        </p:nvSpPr>
        <p:spPr>
          <a:xfrm>
            <a:off x="822960" y="1920240"/>
            <a:ext cx="10515600" cy="2377440"/>
          </a:xfrm>
          <a:prstGeom prst="rect">
            <a:avLst/>
          </a:prstGeom>
          <a:noFill/>
        </p:spPr>
        <p:txBody>
          <a:bodyPr wrap="square">
            <a:spAutoFit/>
          </a:bodyPr>
          <a:lstStyle/>
          <a:p>
            <a:pPr algn="l">
              <a:spcBef>
                <a:spcPts val="0"/>
              </a:spcBef>
              <a:spcAft>
                <a:spcPts val="600"/>
              </a:spcAft>
            </a:pPr>
            <a:r>
              <a:rPr sz="5400" b="1" i="0">
                <a:solidFill>
                  <a:srgbClr val="FFFFFF"/>
                </a:solidFill>
                <a:latin typeface="Helvetica Neue"/>
              </a:rPr>
              <a:t>MAC</a:t>
            </a:r>
          </a:p>
          <a:p>
            <a:pPr>
              <a:spcBef>
                <a:spcPts val="0"/>
              </a:spcBef>
              <a:spcAft>
                <a:spcPts val="1800"/>
              </a:spcAft>
            </a:pPr>
            <a:r>
              <a:rPr sz="3000" b="0" i="0">
                <a:solidFill>
                  <a:srgbClr val="DCE5EC"/>
                </a:solidFill>
                <a:latin typeface="Helvetica Neue"/>
              </a:rPr>
              <a:t>What the control plane can do today</a:t>
            </a:r>
          </a:p>
          <a:p>
            <a:pPr>
              <a:spcBef>
                <a:spcPts val="0"/>
              </a:spcBef>
              <a:spcAft>
                <a:spcPts val="600"/>
              </a:spcAft>
            </a:pPr>
            <a:r>
              <a:rPr sz="1700" b="0" i="0">
                <a:solidFill>
                  <a:srgbClr val="8A98A6"/>
                </a:solidFill>
                <a:latin typeface="Helvetica Neue"/>
              </a:rPr>
              <a:t>A multi-agent coordinator control plane, audited from its own source and documentation.</a:t>
            </a:r>
          </a:p>
        </p:txBody>
      </p:sp>
      <p:sp>
        <p:nvSpPr>
          <p:cNvPr id="3" name="TextBox 2"/>
          <p:cNvSpPr txBox="1"/>
          <p:nvPr/>
        </p:nvSpPr>
        <p:spPr>
          <a:xfrm>
            <a:off x="822960" y="5029200"/>
            <a:ext cx="10515600" cy="1280160"/>
          </a:xfrm>
          <a:prstGeom prst="rect">
            <a:avLst/>
          </a:prstGeom>
          <a:noFill/>
        </p:spPr>
        <p:txBody>
          <a:bodyPr wrap="square">
            <a:spAutoFit/>
          </a:bodyPr>
          <a:lstStyle/>
          <a:p>
            <a:pPr algn="l">
              <a:spcBef>
                <a:spcPts val="0"/>
              </a:spcBef>
              <a:spcAft>
                <a:spcPts val="400"/>
              </a:spcAft>
            </a:pPr>
            <a:r>
              <a:rPr sz="1600" b="1" i="0">
                <a:solidFill>
                  <a:srgbClr val="F2C48A"/>
                </a:solidFill>
                <a:latin typeface="Helvetica Neue"/>
              </a:rPr>
              <a:t>commit 8b424c20   ·   captured 2026-08-20T01:12:24Z</a:t>
            </a:r>
          </a:p>
          <a:p>
            <a:pPr>
              <a:spcBef>
                <a:spcPts val="0"/>
              </a:spcBef>
              <a:spcAft>
                <a:spcPts val="600"/>
              </a:spcAft>
            </a:pPr>
            <a:r>
              <a:rPr sz="1350" b="0" i="0">
                <a:solidFill>
                  <a:srgbClr val="8A98A6"/>
                </a:solidFill>
                <a:latin typeface="Helvetica Neue"/>
              </a:rPr>
              <a:t>Every claim in this deck is traced to a file or commit in AUDIT.md. Figures are dated because they 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02920"/>
            <a:ext cx="10607040" cy="914400"/>
          </a:xfrm>
          <a:prstGeom prst="rect">
            <a:avLst/>
          </a:prstGeom>
          <a:noFill/>
        </p:spPr>
        <p:txBody>
          <a:bodyPr wrap="square">
            <a:spAutoFit/>
          </a:bodyPr>
          <a:lstStyle/>
          <a:p>
            <a:pPr algn="l">
              <a:spcBef>
                <a:spcPts val="0"/>
              </a:spcBef>
              <a:spcAft>
                <a:spcPts val="400"/>
              </a:spcAft>
            </a:pPr>
            <a:r>
              <a:rPr sz="3400" b="1" i="0">
                <a:solidFill>
                  <a:srgbClr val="1B2530"/>
                </a:solidFill>
                <a:latin typeface="Helvetica Neue"/>
              </a:rPr>
              <a:t>What MAC is, and what it deliberately is not</a:t>
            </a:r>
          </a:p>
          <a:p>
            <a:pPr>
              <a:spcBef>
                <a:spcPts val="0"/>
              </a:spcBef>
              <a:spcAft>
                <a:spcPts val="600"/>
              </a:spcAft>
            </a:pPr>
            <a:r>
              <a:rPr sz="1500" b="0" i="0">
                <a:solidFill>
                  <a:srgbClr val="5A6B7A"/>
                </a:solidFill>
                <a:latin typeface="Helvetica Neue"/>
              </a:rPr>
              <a:t>The boundary is the design. Everything MAC owns is something you would want to still be true after a crash.</a:t>
            </a:r>
          </a:p>
        </p:txBody>
      </p:sp>
      <p:sp>
        <p:nvSpPr>
          <p:cNvPr id="3" name="TextBox 2"/>
          <p:cNvSpPr txBox="1"/>
          <p:nvPr/>
        </p:nvSpPr>
        <p:spPr>
          <a:xfrm>
            <a:off x="777240" y="1691640"/>
            <a:ext cx="5120640" cy="4572000"/>
          </a:xfrm>
          <a:prstGeom prst="rect">
            <a:avLst/>
          </a:prstGeom>
          <a:noFill/>
        </p:spPr>
        <p:txBody>
          <a:bodyPr wrap="square">
            <a:spAutoFit/>
          </a:bodyPr>
          <a:lstStyle/>
          <a:p>
            <a:pPr algn="l">
              <a:spcBef>
                <a:spcPts val="0"/>
              </a:spcBef>
              <a:spcAft>
                <a:spcPts val="1000"/>
              </a:spcAft>
            </a:pPr>
            <a:r>
              <a:rPr sz="2000" b="1" i="0">
                <a:solidFill>
                  <a:srgbClr val="2E6F9E"/>
                </a:solidFill>
                <a:latin typeface="Helvetica Neue"/>
              </a:rPr>
              <a:t>It owns durable operational truth</a:t>
            </a:r>
          </a:p>
          <a:p>
            <a:pPr>
              <a:spcBef>
                <a:spcPts val="0"/>
              </a:spcBef>
              <a:spcAft>
                <a:spcPts val="800"/>
              </a:spcAft>
            </a:pPr>
            <a:r>
              <a:rPr sz="1500" b="0" i="0">
                <a:solidFill>
                  <a:srgbClr val="2F3A45"/>
                </a:solidFill>
                <a:latin typeface="Helvetica Neue"/>
              </a:rPr>
              <a:t>•  Tasks, leases, routing, reviews, evidence.</a:t>
            </a:r>
          </a:p>
          <a:p>
            <a:pPr>
              <a:spcBef>
                <a:spcPts val="0"/>
              </a:spcBef>
              <a:spcAft>
                <a:spcPts val="800"/>
              </a:spcAft>
            </a:pPr>
            <a:r>
              <a:rPr sz="1500" b="0" i="0">
                <a:solidFill>
                  <a:srgbClr val="2F3A45"/>
                </a:solidFill>
                <a:latin typeface="Helvetica Neue"/>
              </a:rPr>
              <a:t>•  Secrets as handles, runtime manifests, rollout state.</a:t>
            </a:r>
          </a:p>
          <a:p>
            <a:pPr>
              <a:spcBef>
                <a:spcPts val="0"/>
              </a:spcBef>
              <a:spcAft>
                <a:spcPts val="800"/>
              </a:spcAft>
            </a:pPr>
            <a:r>
              <a:rPr sz="1500" b="0" i="0">
                <a:solidFill>
                  <a:srgbClr val="2F3A45"/>
                </a:solidFill>
                <a:latin typeface="Helvetica Neue"/>
              </a:rPr>
              <a:t>•  Machine and agent registry, capabilities and health.</a:t>
            </a:r>
          </a:p>
          <a:p>
            <a:pPr>
              <a:spcBef>
                <a:spcPts val="0"/>
              </a:spcBef>
              <a:spcAft>
                <a:spcPts val="800"/>
              </a:spcAft>
            </a:pPr>
            <a:r>
              <a:rPr sz="1500" b="0" i="0">
                <a:solidFill>
                  <a:srgbClr val="2F3A45"/>
                </a:solidFill>
                <a:latin typeface="Helvetica Neue"/>
              </a:rPr>
              <a:t>•  Audit trails, and the publication record.</a:t>
            </a:r>
          </a:p>
          <a:p>
            <a:pPr>
              <a:spcBef>
                <a:spcPts val="1000"/>
              </a:spcBef>
              <a:spcAft>
                <a:spcPts val="600"/>
              </a:spcAft>
            </a:pPr>
            <a:r>
              <a:rPr sz="1400" b="0" i="0">
                <a:solidFill>
                  <a:srgbClr val="5A6B7A"/>
                </a:solidFill>
                <a:latin typeface="Helvetica Neue"/>
              </a:rPr>
              <a:t>PostgreSQL is the authority — there is no offline replica and no ticket-file sync. A .tickets/&lt;id&gt;.md file is an optional local convenience view and is explicitly not authoritative.</a:t>
            </a:r>
          </a:p>
        </p:txBody>
      </p:sp>
      <p:sp>
        <p:nvSpPr>
          <p:cNvPr id="4" name="TextBox 3"/>
          <p:cNvSpPr txBox="1"/>
          <p:nvPr/>
        </p:nvSpPr>
        <p:spPr>
          <a:xfrm>
            <a:off x="6400800" y="1691640"/>
            <a:ext cx="5029200" cy="4572000"/>
          </a:xfrm>
          <a:prstGeom prst="rect">
            <a:avLst/>
          </a:prstGeom>
          <a:noFill/>
        </p:spPr>
        <p:txBody>
          <a:bodyPr wrap="square">
            <a:spAutoFit/>
          </a:bodyPr>
          <a:lstStyle/>
          <a:p>
            <a:pPr algn="l">
              <a:spcBef>
                <a:spcPts val="0"/>
              </a:spcBef>
              <a:spcAft>
                <a:spcPts val="1000"/>
              </a:spcAft>
            </a:pPr>
            <a:r>
              <a:rPr sz="2000" b="1" i="0">
                <a:solidFill>
                  <a:srgbClr val="B5651D"/>
                </a:solidFill>
                <a:latin typeface="Helvetica Neue"/>
              </a:rPr>
              <a:t>It does not own the conversation</a:t>
            </a:r>
          </a:p>
          <a:p>
            <a:pPr>
              <a:spcBef>
                <a:spcPts val="0"/>
              </a:spcBef>
              <a:spcAft>
                <a:spcPts val="800"/>
              </a:spcAft>
            </a:pPr>
            <a:r>
              <a:rPr sz="1500" b="0" i="0">
                <a:solidFill>
                  <a:srgbClr val="2F3A45"/>
                </a:solidFill>
                <a:latin typeface="Helvetica Neue"/>
              </a:rPr>
              <a:t>•  Personality, chat, and messaging gateways belong to the human-facing runtime.</a:t>
            </a:r>
          </a:p>
          <a:p>
            <a:pPr>
              <a:spcBef>
                <a:spcPts val="0"/>
              </a:spcBef>
              <a:spcAft>
                <a:spcPts val="800"/>
              </a:spcAft>
            </a:pPr>
            <a:r>
              <a:rPr sz="1500" b="0" i="0">
                <a:solidFill>
                  <a:srgbClr val="2F3A45"/>
                </a:solidFill>
                <a:latin typeface="Helvetica Neue"/>
              </a:rPr>
              <a:t>•  MAC sits underneath it and takes durable work from it.</a:t>
            </a:r>
          </a:p>
          <a:p>
            <a:pPr>
              <a:spcBef>
                <a:spcPts val="0"/>
              </a:spcBef>
              <a:spcAft>
                <a:spcPts val="800"/>
              </a:spcAft>
            </a:pPr>
            <a:r>
              <a:rPr sz="1500" b="0" i="0">
                <a:solidFill>
                  <a:srgbClr val="2F3A45"/>
                </a:solidFill>
                <a:latin typeface="Helvetica Neue"/>
              </a:rPr>
              <a:t>•  The command-and-control dashboard was retired; /ui is read-only observability.</a:t>
            </a:r>
          </a:p>
          <a:p>
            <a:pPr>
              <a:spcBef>
                <a:spcPts val="0"/>
              </a:spcBef>
              <a:spcAft>
                <a:spcPts val="800"/>
              </a:spcAft>
            </a:pPr>
            <a:r>
              <a:rPr sz="1500" b="0" i="0">
                <a:solidFill>
                  <a:srgbClr val="2F3A45"/>
                </a:solidFill>
                <a:latin typeface="Helvetica Neue"/>
              </a:rPr>
              <a:t>•  The console speaks on the bus like any other participant rather than mutating the control plane.</a:t>
            </a:r>
          </a:p>
          <a:p>
            <a:pPr>
              <a:spcBef>
                <a:spcPts val="1000"/>
              </a:spcBef>
              <a:spcAft>
                <a:spcPts val="600"/>
              </a:spcAft>
            </a:pPr>
            <a:r>
              <a:rPr sz="1400" b="0" i="0">
                <a:solidFill>
                  <a:srgbClr val="5A6B7A"/>
                </a:solidFill>
                <a:latin typeface="Helvetica Neue"/>
              </a:rPr>
              <a:t>That boundary is why an agent going off the rails is a bus conversation, not a privileged API call.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F3A45"/>
        </a:solidFill>
        <a:effectLst/>
      </p:bgPr>
    </p:bg>
    <p:spTree>
      <p:nvGrpSpPr>
        <p:cNvPr id="1" name=""/>
        <p:cNvGrpSpPr/>
        <p:nvPr/>
      </p:nvGrpSpPr>
      <p:grpSpPr/>
      <p:sp>
        <p:nvSpPr>
          <p:cNvPr id="2" name="TextBox 1"/>
          <p:cNvSpPr txBox="1"/>
          <p:nvPr/>
        </p:nvSpPr>
        <p:spPr>
          <a:xfrm>
            <a:off x="822960" y="2377440"/>
            <a:ext cx="10515600" cy="2194560"/>
          </a:xfrm>
          <a:prstGeom prst="rect">
            <a:avLst/>
          </a:prstGeom>
          <a:noFill/>
        </p:spPr>
        <p:txBody>
          <a:bodyPr wrap="square">
            <a:spAutoFit/>
          </a:bodyPr>
          <a:lstStyle/>
          <a:p>
            <a:pPr algn="l">
              <a:spcBef>
                <a:spcPts val="0"/>
              </a:spcBef>
              <a:spcAft>
                <a:spcPts val="1000"/>
              </a:spcAft>
            </a:pPr>
            <a:r>
              <a:rPr sz="1600" b="1" i="0">
                <a:solidFill>
                  <a:srgbClr val="F2C48A"/>
                </a:solidFill>
                <a:latin typeface="Helvetica Neue"/>
              </a:rPr>
              <a:t>PART ONE</a:t>
            </a:r>
          </a:p>
          <a:p>
            <a:pPr>
              <a:spcBef>
                <a:spcPts val="0"/>
              </a:spcBef>
              <a:spcAft>
                <a:spcPts val="1200"/>
              </a:spcAft>
            </a:pPr>
            <a:r>
              <a:rPr sz="3600" b="1" i="0">
                <a:solidFill>
                  <a:srgbClr val="FFFFFF"/>
                </a:solidFill>
                <a:latin typeface="Helvetica Neue"/>
              </a:rPr>
              <a:t>The model</a:t>
            </a:r>
          </a:p>
          <a:p>
            <a:pPr>
              <a:spcBef>
                <a:spcPts val="0"/>
              </a:spcBef>
              <a:spcAft>
                <a:spcPts val="600"/>
              </a:spcAft>
            </a:pPr>
            <a:r>
              <a:rPr sz="1800" b="0" i="0">
                <a:solidFill>
                  <a:srgbClr val="DCE5EC"/>
                </a:solidFill>
                <a:latin typeface="Helvetica Neue"/>
              </a:rPr>
              <a:t>Four objects, one ledger, and what must be true to move work between states.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object-model.png"/>
          <p:cNvPicPr>
            <a:picLocks noChangeAspect="1"/>
          </p:cNvPicPr>
          <p:nvPr/>
        </p:nvPicPr>
        <p:blipFill>
          <a:blip r:embed="rId2"/>
          <a:stretch>
            <a:fillRect/>
          </a:stretch>
        </p:blipFill>
        <p:spPr>
          <a:xfrm>
            <a:off x="613511" y="182880"/>
            <a:ext cx="10964672" cy="64922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task-lifecycle.png"/>
          <p:cNvPicPr>
            <a:picLocks noChangeAspect="1"/>
          </p:cNvPicPr>
          <p:nvPr/>
        </p:nvPicPr>
        <p:blipFill>
          <a:blip r:embed="rId2"/>
          <a:stretch>
            <a:fillRect/>
          </a:stretch>
        </p:blipFill>
        <p:spPr>
          <a:xfrm>
            <a:off x="488913" y="182880"/>
            <a:ext cx="11213869" cy="64922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F3A45"/>
        </a:solidFill>
        <a:effectLst/>
      </p:bgPr>
    </p:bg>
    <p:spTree>
      <p:nvGrpSpPr>
        <p:cNvPr id="1" name=""/>
        <p:cNvGrpSpPr/>
        <p:nvPr/>
      </p:nvGrpSpPr>
      <p:grpSpPr/>
      <p:sp>
        <p:nvSpPr>
          <p:cNvPr id="2" name="TextBox 1"/>
          <p:cNvSpPr txBox="1"/>
          <p:nvPr/>
        </p:nvSpPr>
        <p:spPr>
          <a:xfrm>
            <a:off x="822960" y="2377440"/>
            <a:ext cx="10515600" cy="2194560"/>
          </a:xfrm>
          <a:prstGeom prst="rect">
            <a:avLst/>
          </a:prstGeom>
          <a:noFill/>
        </p:spPr>
        <p:txBody>
          <a:bodyPr wrap="square">
            <a:spAutoFit/>
          </a:bodyPr>
          <a:lstStyle/>
          <a:p>
            <a:pPr algn="l">
              <a:spcBef>
                <a:spcPts val="0"/>
              </a:spcBef>
              <a:spcAft>
                <a:spcPts val="1000"/>
              </a:spcAft>
            </a:pPr>
            <a:r>
              <a:rPr sz="1600" b="1" i="0">
                <a:solidFill>
                  <a:srgbClr val="F2C48A"/>
                </a:solidFill>
                <a:latin typeface="Helvetica Neue"/>
              </a:rPr>
              <a:t>PART TWO</a:t>
            </a:r>
          </a:p>
          <a:p>
            <a:pPr>
              <a:spcBef>
                <a:spcPts val="0"/>
              </a:spcBef>
              <a:spcAft>
                <a:spcPts val="1200"/>
              </a:spcAft>
            </a:pPr>
            <a:r>
              <a:rPr sz="3600" b="1" i="0">
                <a:solidFill>
                  <a:srgbClr val="FFFFFF"/>
                </a:solidFill>
                <a:latin typeface="Helvetica Neue"/>
              </a:rPr>
              <a:t>Coordination and execution</a:t>
            </a:r>
          </a:p>
          <a:p>
            <a:pPr>
              <a:spcBef>
                <a:spcPts val="0"/>
              </a:spcBef>
              <a:spcAft>
                <a:spcPts val="600"/>
              </a:spcAft>
            </a:pPr>
            <a:r>
              <a:rPr sz="1800" b="0" i="0">
                <a:solidFill>
                  <a:srgbClr val="DCE5EC"/>
                </a:solidFill>
                <a:latin typeface="Helvetica Neue"/>
              </a:rPr>
              <a:t>How agents hear each other, and what actually runs the work.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coordination.png"/>
          <p:cNvPicPr>
            <a:picLocks noChangeAspect="1"/>
          </p:cNvPicPr>
          <p:nvPr/>
        </p:nvPicPr>
        <p:blipFill>
          <a:blip r:embed="rId2"/>
          <a:stretch>
            <a:fillRect/>
          </a:stretch>
        </p:blipFill>
        <p:spPr>
          <a:xfrm>
            <a:off x="613511" y="182880"/>
            <a:ext cx="10964672" cy="64922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fleet-execution.png"/>
          <p:cNvPicPr>
            <a:picLocks noChangeAspect="1"/>
          </p:cNvPicPr>
          <p:nvPr/>
        </p:nvPicPr>
        <p:blipFill>
          <a:blip r:embed="rId2"/>
          <a:stretch>
            <a:fillRect/>
          </a:stretch>
        </p:blipFill>
        <p:spPr>
          <a:xfrm>
            <a:off x="613511" y="182880"/>
            <a:ext cx="10964672" cy="649224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F3A45"/>
        </a:solidFill>
        <a:effectLst/>
      </p:bgPr>
    </p:bg>
    <p:spTree>
      <p:nvGrpSpPr>
        <p:cNvPr id="1" name=""/>
        <p:cNvGrpSpPr/>
        <p:nvPr/>
      </p:nvGrpSpPr>
      <p:grpSpPr/>
      <p:sp>
        <p:nvSpPr>
          <p:cNvPr id="2" name="TextBox 1"/>
          <p:cNvSpPr txBox="1"/>
          <p:nvPr/>
        </p:nvSpPr>
        <p:spPr>
          <a:xfrm>
            <a:off x="822960" y="2377440"/>
            <a:ext cx="10515600" cy="2194560"/>
          </a:xfrm>
          <a:prstGeom prst="rect">
            <a:avLst/>
          </a:prstGeom>
          <a:noFill/>
        </p:spPr>
        <p:txBody>
          <a:bodyPr wrap="square">
            <a:spAutoFit/>
          </a:bodyPr>
          <a:lstStyle/>
          <a:p>
            <a:pPr algn="l">
              <a:spcBef>
                <a:spcPts val="0"/>
              </a:spcBef>
              <a:spcAft>
                <a:spcPts val="1000"/>
              </a:spcAft>
            </a:pPr>
            <a:r>
              <a:rPr sz="1600" b="1" i="0">
                <a:solidFill>
                  <a:srgbClr val="F2C48A"/>
                </a:solidFill>
                <a:latin typeface="Helvetica Neue"/>
              </a:rPr>
              <a:t>PART THREE</a:t>
            </a:r>
          </a:p>
          <a:p>
            <a:pPr>
              <a:spcBef>
                <a:spcPts val="0"/>
              </a:spcBef>
              <a:spcAft>
                <a:spcPts val="1200"/>
              </a:spcAft>
            </a:pPr>
            <a:r>
              <a:rPr sz="3600" b="1" i="0">
                <a:solidFill>
                  <a:srgbClr val="FFFFFF"/>
                </a:solidFill>
                <a:latin typeface="Helvetica Neue"/>
              </a:rPr>
              <a:t>Measurement</a:t>
            </a:r>
          </a:p>
          <a:p>
            <a:pPr>
              <a:spcBef>
                <a:spcPts val="0"/>
              </a:spcBef>
              <a:spcAft>
                <a:spcPts val="600"/>
              </a:spcAft>
            </a:pPr>
            <a:r>
              <a:rPr sz="1800" b="0" i="0">
                <a:solidFill>
                  <a:srgbClr val="DCE5EC"/>
                </a:solidFill>
                <a:latin typeface="Helvetica Neue"/>
              </a:rPr>
              <a:t>The fleet instruments itself — and the instrumentation is currently indicting the design.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measurement.png"/>
          <p:cNvPicPr>
            <a:picLocks noChangeAspect="1"/>
          </p:cNvPicPr>
          <p:nvPr/>
        </p:nvPicPr>
        <p:blipFill>
          <a:blip r:embed="rId2"/>
          <a:stretch>
            <a:fillRect/>
          </a:stretch>
        </p:blipFill>
        <p:spPr>
          <a:xfrm>
            <a:off x="790361" y="182880"/>
            <a:ext cx="10610972" cy="649224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02920"/>
            <a:ext cx="10607040" cy="914400"/>
          </a:xfrm>
          <a:prstGeom prst="rect">
            <a:avLst/>
          </a:prstGeom>
          <a:noFill/>
        </p:spPr>
        <p:txBody>
          <a:bodyPr wrap="square">
            <a:spAutoFit/>
          </a:bodyPr>
          <a:lstStyle/>
          <a:p>
            <a:pPr algn="l">
              <a:spcBef>
                <a:spcPts val="0"/>
              </a:spcBef>
              <a:spcAft>
                <a:spcPts val="400"/>
              </a:spcAft>
            </a:pPr>
            <a:r>
              <a:rPr sz="3400" b="1" i="0">
                <a:solidFill>
                  <a:srgbClr val="1B2530"/>
                </a:solidFill>
                <a:latin typeface="Helvetica Neue"/>
              </a:rPr>
              <a:t>Scale, at this commit</a:t>
            </a:r>
          </a:p>
          <a:p>
            <a:pPr>
              <a:spcBef>
                <a:spcPts val="0"/>
              </a:spcBef>
              <a:spcAft>
                <a:spcPts val="600"/>
              </a:spcAft>
            </a:pPr>
            <a:r>
              <a:rPr sz="1500" b="0" i="0">
                <a:solidFill>
                  <a:srgbClr val="5A6B7A"/>
                </a:solidFill>
                <a:latin typeface="Helvetica Neue"/>
              </a:rPr>
              <a:t>Counted directly in the tree at 8b424c20, not estimated.</a:t>
            </a:r>
          </a:p>
        </p:txBody>
      </p:sp>
      <p:sp>
        <p:nvSpPr>
          <p:cNvPr id="3" name="TextBox 2"/>
          <p:cNvSpPr txBox="1"/>
          <p:nvPr/>
        </p:nvSpPr>
        <p:spPr>
          <a:xfrm>
            <a:off x="777240" y="1645920"/>
            <a:ext cx="10607040" cy="4754880"/>
          </a:xfrm>
          <a:prstGeom prst="rect">
            <a:avLst/>
          </a:prstGeom>
          <a:noFill/>
        </p:spPr>
        <p:txBody>
          <a:bodyPr wrap="square">
            <a:spAutoFit/>
          </a:bodyPr>
          <a:lstStyle/>
          <a:p>
            <a:pPr algn="l">
              <a:spcAft>
                <a:spcPts val="1100"/>
              </a:spcAft>
            </a:pPr>
            <a:r>
              <a:rPr sz="2300" b="1">
                <a:solidFill>
                  <a:srgbClr val="1B2530"/>
                </a:solidFill>
                <a:latin typeface="Helvetica Neue"/>
              </a:rPr>
              <a:t>   195,764   </a:t>
            </a:r>
            <a:r>
              <a:rPr sz="1700">
                <a:solidFill>
                  <a:srgbClr val="2F3A45"/>
                </a:solidFill>
                <a:latin typeface="Helvetica Neue"/>
              </a:rPr>
              <a:t>lines of Python under src/</a:t>
            </a:r>
            <a:r>
              <a:rPr sz="1400">
                <a:solidFill>
                  <a:srgbClr val="5A6B7A"/>
                </a:solidFill>
                <a:latin typeface="Helvetica Neue"/>
              </a:rPr>
              <a:t>   — 201 modules in src/mac</a:t>
            </a:r>
          </a:p>
          <a:p>
            <a:pPr>
              <a:spcAft>
                <a:spcPts val="1100"/>
              </a:spcAft>
            </a:pPr>
            <a:r>
              <a:rPr sz="2300" b="1">
                <a:solidFill>
                  <a:srgbClr val="1B2530"/>
                </a:solidFill>
                <a:latin typeface="Helvetica Neue"/>
              </a:rPr>
              <a:t>       470   </a:t>
            </a:r>
            <a:r>
              <a:rPr sz="1700">
                <a:solidFill>
                  <a:srgbClr val="2F3A45"/>
                </a:solidFill>
                <a:latin typeface="Helvetica Neue"/>
              </a:rPr>
              <a:t>test files under tests/</a:t>
            </a:r>
            <a:r>
              <a:rPr sz="1400">
                <a:solidFill>
                  <a:srgbClr val="5A6B7A"/>
                </a:solidFill>
                <a:latin typeface="Helvetica Neue"/>
              </a:rPr>
              <a:t>   — plus fault-replay and contract suites</a:t>
            </a:r>
          </a:p>
          <a:p>
            <a:pPr>
              <a:spcAft>
                <a:spcPts val="1100"/>
              </a:spcAft>
            </a:pPr>
            <a:r>
              <a:rPr sz="2300" b="1">
                <a:solidFill>
                  <a:srgbClr val="1B2530"/>
                </a:solidFill>
                <a:latin typeface="Helvetica Neue"/>
              </a:rPr>
              <a:t>       408   </a:t>
            </a:r>
            <a:r>
              <a:rPr sz="1700">
                <a:solidFill>
                  <a:srgbClr val="2F3A45"/>
                </a:solidFill>
                <a:latin typeface="Helvetica Neue"/>
              </a:rPr>
              <a:t>HTTP routes</a:t>
            </a:r>
            <a:r>
              <a:rPr sz="1400">
                <a:solidFill>
                  <a:srgbClr val="5A6B7A"/>
                </a:solidFill>
                <a:latin typeface="Helvetica Neue"/>
              </a:rPr>
              <a:t>   — generated from the live OpenAPI schema</a:t>
            </a:r>
          </a:p>
          <a:p>
            <a:pPr>
              <a:spcAft>
                <a:spcPts val="1100"/>
              </a:spcAft>
            </a:pPr>
            <a:r>
              <a:rPr sz="2300" b="1">
                <a:solidFill>
                  <a:srgbClr val="1B2530"/>
                </a:solidFill>
                <a:latin typeface="Helvetica Neue"/>
              </a:rPr>
              <a:t>       123   </a:t>
            </a:r>
            <a:r>
              <a:rPr sz="1700">
                <a:solidFill>
                  <a:srgbClr val="2F3A45"/>
                </a:solidFill>
                <a:latin typeface="Helvetica Neue"/>
              </a:rPr>
              <a:t>CLI verbs</a:t>
            </a:r>
            <a:r>
              <a:rPr sz="1400">
                <a:solidFill>
                  <a:srgbClr val="5A6B7A"/>
                </a:solidFill>
                <a:latin typeface="Helvetica Neue"/>
              </a:rPr>
              <a:t>   — across project, task, agent and admin</a:t>
            </a:r>
          </a:p>
          <a:p>
            <a:pPr>
              <a:spcAft>
                <a:spcPts val="1100"/>
              </a:spcAft>
            </a:pPr>
            <a:r>
              <a:rPr sz="2300" b="1">
                <a:solidFill>
                  <a:srgbClr val="1B2530"/>
                </a:solidFill>
                <a:latin typeface="Helvetica Neue"/>
              </a:rPr>
              <a:t>        18   </a:t>
            </a:r>
            <a:r>
              <a:rPr sz="1700">
                <a:solidFill>
                  <a:srgbClr val="2F3A45"/>
                </a:solidFill>
                <a:latin typeface="Helvetica Neue"/>
              </a:rPr>
              <a:t>book chapters</a:t>
            </a:r>
            <a:r>
              <a:rPr sz="1400">
                <a:solidFill>
                  <a:srgbClr val="5A6B7A"/>
                </a:solidFill>
                <a:latin typeface="Helvetica Neue"/>
              </a:rPr>
              <a:t>   — every shell example executed by make docs-check</a:t>
            </a:r>
          </a:p>
          <a:p>
            <a:pPr>
              <a:spcAft>
                <a:spcPts val="1100"/>
              </a:spcAft>
            </a:pPr>
            <a:r>
              <a:rPr sz="2300" b="1">
                <a:solidFill>
                  <a:srgbClr val="1B2530"/>
                </a:solidFill>
                <a:latin typeface="Helvetica Neue"/>
              </a:rPr>
              <a:t>        18   </a:t>
            </a:r>
            <a:r>
              <a:rPr sz="1700">
                <a:solidFill>
                  <a:srgbClr val="2F3A45"/>
                </a:solidFill>
                <a:latin typeface="Helvetica Neue"/>
              </a:rPr>
              <a:t>architecture decision records</a:t>
            </a:r>
            <a:r>
              <a:rPr sz="1400">
                <a:solidFill>
                  <a:srgbClr val="5A6B7A"/>
                </a:solidFill>
                <a:latin typeface="Helvetica Neue"/>
              </a:rPr>
              <a:t>   — 0016–0018 are Proposed, not shipped</a:t>
            </a:r>
          </a:p>
          <a:p>
            <a:pPr>
              <a:spcAft>
                <a:spcPts val="1100"/>
              </a:spcAft>
            </a:pPr>
            <a:r>
              <a:rPr sz="2300" b="1">
                <a:solidFill>
                  <a:srgbClr val="1B2530"/>
                </a:solidFill>
                <a:latin typeface="Helvetica Neue"/>
              </a:rPr>
              <a:t>         5   </a:t>
            </a:r>
            <a:r>
              <a:rPr sz="1700">
                <a:solidFill>
                  <a:srgbClr val="2F3A45"/>
                </a:solidFill>
                <a:latin typeface="Helvetica Neue"/>
              </a:rPr>
              <a:t>coding-agent routes</a:t>
            </a:r>
            <a:r>
              <a:rPr sz="1400">
                <a:solidFill>
                  <a:srgbClr val="5A6B7A"/>
                </a:solidFill>
                <a:latin typeface="Helvetica Neue"/>
              </a:rPr>
              <a:t>   — claude, codex, cursor, opencode, pi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02920"/>
            <a:ext cx="10607040" cy="914400"/>
          </a:xfrm>
          <a:prstGeom prst="rect">
            <a:avLst/>
          </a:prstGeom>
          <a:noFill/>
        </p:spPr>
        <p:txBody>
          <a:bodyPr wrap="square">
            <a:spAutoFit/>
          </a:bodyPr>
          <a:lstStyle/>
          <a:p>
            <a:pPr algn="l">
              <a:spcBef>
                <a:spcPts val="0"/>
              </a:spcBef>
              <a:spcAft>
                <a:spcPts val="400"/>
              </a:spcAft>
            </a:pPr>
            <a:r>
              <a:rPr sz="3400" b="1" i="0">
                <a:solidFill>
                  <a:srgbClr val="1B2530"/>
                </a:solidFill>
                <a:latin typeface="Helvetica Neue"/>
              </a:rPr>
              <a:t>Proposed, deferred, or stale — stated up front</a:t>
            </a:r>
          </a:p>
          <a:p>
            <a:pPr>
              <a:spcBef>
                <a:spcPts val="0"/>
              </a:spcBef>
              <a:spcAft>
                <a:spcPts val="600"/>
              </a:spcAft>
            </a:pPr>
            <a:r>
              <a:rPr sz="1500" b="0" i="0">
                <a:solidFill>
                  <a:srgbClr val="5A6B7A"/>
                </a:solidFill>
                <a:latin typeface="Helvetica Neue"/>
              </a:rPr>
              <a:t>A capabilities deck that only lists capabilities is marketing. These are the places the code and the claims do not yet meet.</a:t>
            </a:r>
          </a:p>
        </p:txBody>
      </p:sp>
      <p:sp>
        <p:nvSpPr>
          <p:cNvPr id="3" name="TextBox 2"/>
          <p:cNvSpPr txBox="1"/>
          <p:nvPr/>
        </p:nvSpPr>
        <p:spPr>
          <a:xfrm>
            <a:off x="777240" y="1645920"/>
            <a:ext cx="10607040" cy="4846320"/>
          </a:xfrm>
          <a:prstGeom prst="rect">
            <a:avLst/>
          </a:prstGeom>
          <a:noFill/>
        </p:spPr>
        <p:txBody>
          <a:bodyPr wrap="square">
            <a:spAutoFit/>
          </a:bodyPr>
          <a:lstStyle/>
          <a:p>
            <a:pPr algn="l">
              <a:spcBef>
                <a:spcPts val="0"/>
              </a:spcBef>
              <a:spcAft>
                <a:spcPts val="300"/>
              </a:spcAft>
            </a:pPr>
            <a:r>
              <a:rPr sz="1750" b="1" i="0">
                <a:solidFill>
                  <a:srgbClr val="1B2530"/>
                </a:solidFill>
                <a:latin typeface="Helvetica Neue"/>
              </a:rPr>
              <a:t>ADR 0016, 0017 and 0018 are all Proposed.</a:t>
            </a:r>
          </a:p>
          <a:p>
            <a:pPr>
              <a:spcBef>
                <a:spcPts val="0"/>
              </a:spcBef>
              <a:spcAft>
                <a:spcPts val="200"/>
              </a:spcAft>
            </a:pPr>
            <a:r>
              <a:rPr sz="1400" b="0" i="0">
                <a:solidFill>
                  <a:srgbClr val="5A6B7A"/>
                </a:solidFill>
                <a:latin typeface="Helvetica Neue"/>
              </a:rPr>
              <a:t>Agent-initiated review, router-side token metering, and the dependency graph are designs with measured motivation — none of them has shipped. The mandatory hub-mediated workflow still runs today.</a:t>
            </a:r>
          </a:p>
          <a:p>
            <a:pPr>
              <a:spcBef>
                <a:spcPts val="1000"/>
              </a:spcBef>
              <a:spcAft>
                <a:spcPts val="300"/>
              </a:spcAft>
            </a:pPr>
            <a:r>
              <a:rPr sz="1750" b="1" i="0">
                <a:solidFill>
                  <a:srgbClr val="1B2530"/>
                </a:solidFill>
                <a:latin typeface="Helvetica Neue"/>
              </a:rPr>
              <a:t>ADR 0012 is Accepted with implementation deferred.</a:t>
            </a:r>
          </a:p>
          <a:p>
            <a:pPr>
              <a:spcBef>
                <a:spcPts val="0"/>
              </a:spcBef>
              <a:spcAft>
                <a:spcPts val="200"/>
              </a:spcAft>
            </a:pPr>
            <a:r>
              <a:rPr sz="1400" b="0" i="0">
                <a:solidFill>
                  <a:srgbClr val="5A6B7A"/>
                </a:solidFill>
                <a:latin typeface="Helvetica Neue"/>
              </a:rPr>
              <a:t>The native-steward / containerized-execution split is a decision awaiting fleet measurement, and ADR 0015 has already narrowed its containerized half to Linux nodes only.</a:t>
            </a:r>
          </a:p>
          <a:p>
            <a:pPr>
              <a:spcBef>
                <a:spcPts val="1000"/>
              </a:spcBef>
              <a:spcAft>
                <a:spcPts val="300"/>
              </a:spcAft>
            </a:pPr>
            <a:r>
              <a:rPr sz="1750" b="1" i="0">
                <a:solidFill>
                  <a:srgbClr val="1B2530"/>
                </a:solidFill>
                <a:latin typeface="Helvetica Neue"/>
              </a:rPr>
              <a:t>The README still describes a runtime that was deleted.</a:t>
            </a:r>
          </a:p>
          <a:p>
            <a:pPr>
              <a:spcBef>
                <a:spcPts val="0"/>
              </a:spcBef>
              <a:spcAft>
                <a:spcPts val="200"/>
              </a:spcAft>
            </a:pPr>
            <a:r>
              <a:rPr sz="1400" b="0" i="0">
                <a:solidFill>
                  <a:srgbClr val="5A6B7A"/>
                </a:solidFill>
                <a:latin typeface="Helvetica Neue"/>
              </a:rPr>
              <a:t>It documents src/mac/_hermes as a vendored Hermes snapshot, links a snapshot contract that no longer resolves, and claims coverage and lint exclusions for that path. The tree went in 3ebde2dd. The mac-hermes adapter it also names is real and unaffected.</a:t>
            </a:r>
          </a:p>
          <a:p>
            <a:pPr>
              <a:spcBef>
                <a:spcPts val="1000"/>
              </a:spcBef>
              <a:spcAft>
                <a:spcPts val="300"/>
              </a:spcAft>
            </a:pPr>
            <a:r>
              <a:rPr sz="1750" b="1" i="0">
                <a:solidFill>
                  <a:srgbClr val="1B2530"/>
                </a:solidFill>
                <a:latin typeface="Helvetica Neue"/>
              </a:rPr>
              <a:t>Token attribution is not currently trustworthy.</a:t>
            </a:r>
          </a:p>
          <a:p>
            <a:pPr>
              <a:spcBef>
                <a:spcPts val="0"/>
              </a:spcBef>
              <a:spcAft>
                <a:spcPts val="200"/>
              </a:spcAft>
            </a:pPr>
            <a:r>
              <a:rPr sz="1400" b="0" i="0">
                <a:solidFill>
                  <a:srgbClr val="5A6B7A"/>
                </a:solidFill>
                <a:latin typeface="Helvetica Neue"/>
              </a:rPr>
              <a:t>29.5% of routes over the last seven days recorded no input token count, none reported cache hits, and cost is priced at read time rather than stored. ADR 0017 exists because of this.</a:t>
            </a:r>
          </a:p>
          <a:p>
            <a:pPr>
              <a:spcBef>
                <a:spcPts val="1000"/>
              </a:spcBef>
              <a:spcAft>
                <a:spcPts val="300"/>
              </a:spcAft>
            </a:pPr>
            <a:r>
              <a:rPr sz="1750" b="1" i="0">
                <a:solidFill>
                  <a:srgbClr val="1B2530"/>
                </a:solidFill>
                <a:latin typeface="Helvetica Neue"/>
              </a:rPr>
              <a:t>A third of blocked work is dead and nothing surfaces it.</a:t>
            </a:r>
          </a:p>
          <a:p>
            <a:pPr>
              <a:spcBef>
                <a:spcPts val="0"/>
              </a:spcBef>
              <a:spcAft>
                <a:spcPts val="200"/>
              </a:spcAft>
            </a:pPr>
            <a:r>
              <a:rPr sz="1400" b="0" i="0">
                <a:solidFill>
                  <a:srgbClr val="5A6B7A"/>
                </a:solidFill>
                <a:latin typeface="Helvetica Neue"/>
              </a:rPr>
              <a:t>165 of 355 blocked tasks wait on dependencies that can never complete. Finding that took a hand-written query.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F3A45"/>
        </a:solidFill>
        <a:effectLst/>
      </p:bgPr>
    </p:bg>
    <p:spTree>
      <p:nvGrpSpPr>
        <p:cNvPr id="1" name=""/>
        <p:cNvGrpSpPr/>
        <p:nvPr/>
      </p:nvGrpSpPr>
      <p:grpSpPr/>
      <p:sp>
        <p:nvSpPr>
          <p:cNvPr id="2" name="TextBox 1"/>
          <p:cNvSpPr txBox="1"/>
          <p:nvPr/>
        </p:nvSpPr>
        <p:spPr>
          <a:xfrm>
            <a:off x="822960" y="640080"/>
            <a:ext cx="10515600" cy="914400"/>
          </a:xfrm>
          <a:prstGeom prst="rect">
            <a:avLst/>
          </a:prstGeom>
          <a:noFill/>
        </p:spPr>
        <p:txBody>
          <a:bodyPr wrap="square">
            <a:spAutoFit/>
          </a:bodyPr>
          <a:lstStyle/>
          <a:p>
            <a:pPr algn="l">
              <a:spcBef>
                <a:spcPts val="0"/>
              </a:spcBef>
              <a:spcAft>
                <a:spcPts val="400"/>
              </a:spcAft>
            </a:pPr>
            <a:r>
              <a:rPr sz="3400" b="1" i="0">
                <a:solidFill>
                  <a:srgbClr val="FFFFFF"/>
                </a:solidFill>
                <a:latin typeface="Helvetica Neue"/>
              </a:rPr>
              <a:t>Provenance</a:t>
            </a:r>
          </a:p>
          <a:p>
            <a:pPr>
              <a:spcBef>
                <a:spcPts val="0"/>
              </a:spcBef>
              <a:spcAft>
                <a:spcPts val="600"/>
              </a:spcAft>
            </a:pPr>
            <a:r>
              <a:rPr sz="1600" b="0" i="0">
                <a:solidFill>
                  <a:srgbClr val="DCE5EC"/>
                </a:solidFill>
                <a:latin typeface="Helvetica Neue"/>
              </a:rPr>
              <a:t>This deck is a pinned artifact, not a living document.</a:t>
            </a:r>
          </a:p>
        </p:txBody>
      </p:sp>
      <p:sp>
        <p:nvSpPr>
          <p:cNvPr id="3" name="TextBox 2"/>
          <p:cNvSpPr txBox="1"/>
          <p:nvPr/>
        </p:nvSpPr>
        <p:spPr>
          <a:xfrm>
            <a:off x="822960" y="1828800"/>
            <a:ext cx="5120640" cy="4206240"/>
          </a:xfrm>
          <a:prstGeom prst="rect">
            <a:avLst/>
          </a:prstGeom>
          <a:noFill/>
        </p:spPr>
        <p:txBody>
          <a:bodyPr wrap="square">
            <a:spAutoFit/>
          </a:bodyPr>
          <a:lstStyle/>
          <a:p>
            <a:pPr algn="l">
              <a:spcBef>
                <a:spcPts val="0"/>
              </a:spcBef>
              <a:spcAft>
                <a:spcPts val="800"/>
              </a:spcAft>
            </a:pPr>
            <a:r>
              <a:rPr sz="1900" b="1" i="0">
                <a:solidFill>
                  <a:srgbClr val="F2C48A"/>
                </a:solidFill>
                <a:latin typeface="Helvetica Neue"/>
              </a:rPr>
              <a:t>How to read it</a:t>
            </a:r>
          </a:p>
          <a:p>
            <a:pPr>
              <a:spcBef>
                <a:spcPts val="0"/>
              </a:spcBef>
              <a:spcAft>
                <a:spcPts val="800"/>
              </a:spcAft>
            </a:pPr>
            <a:r>
              <a:rPr sz="1450" b="0" i="0">
                <a:solidFill>
                  <a:srgbClr val="DCE5EC"/>
                </a:solidFill>
                <a:latin typeface="Helvetica Neue"/>
              </a:rPr>
              <a:t>•  It describes commit 8b424c20 and nothing later.</a:t>
            </a:r>
          </a:p>
          <a:p>
            <a:pPr>
              <a:spcBef>
                <a:spcPts val="0"/>
              </a:spcBef>
              <a:spcAft>
                <a:spcPts val="800"/>
              </a:spcAft>
            </a:pPr>
            <a:r>
              <a:rPr sz="1450" b="0" i="0">
                <a:solidFill>
                  <a:srgbClr val="DCE5EC"/>
                </a:solidFill>
                <a:latin typeface="Helvetica Neue"/>
              </a:rPr>
              <a:t>•  Figures carry the date they were measured, because they age.</a:t>
            </a:r>
          </a:p>
          <a:p>
            <a:pPr>
              <a:spcBef>
                <a:spcPts val="0"/>
              </a:spcBef>
              <a:spcAft>
                <a:spcPts val="800"/>
              </a:spcAft>
            </a:pPr>
            <a:r>
              <a:rPr sz="1450" b="0" i="0">
                <a:solidFill>
                  <a:srgbClr val="DCE5EC"/>
                </a:solidFill>
                <a:latin typeface="Helvetica Neue"/>
              </a:rPr>
              <a:t>•  AUDIT.md traces every claim to a file, commit or generated reference.</a:t>
            </a:r>
          </a:p>
          <a:p>
            <a:pPr>
              <a:spcBef>
                <a:spcPts val="0"/>
              </a:spcBef>
              <a:spcAft>
                <a:spcPts val="800"/>
              </a:spcAft>
            </a:pPr>
            <a:r>
              <a:rPr sz="1450" b="0" i="0">
                <a:solidFill>
                  <a:srgbClr val="DCE5EC"/>
                </a:solidFill>
                <a:latin typeface="Helvetica Neue"/>
              </a:rPr>
              <a:t>•  Diagrams are SVG sources; the PNGs are rendered from them.</a:t>
            </a:r>
          </a:p>
        </p:txBody>
      </p:sp>
      <p:sp>
        <p:nvSpPr>
          <p:cNvPr id="4" name="TextBox 3"/>
          <p:cNvSpPr txBox="1"/>
          <p:nvPr/>
        </p:nvSpPr>
        <p:spPr>
          <a:xfrm>
            <a:off x="6400800" y="1828800"/>
            <a:ext cx="5029200" cy="4206240"/>
          </a:xfrm>
          <a:prstGeom prst="rect">
            <a:avLst/>
          </a:prstGeom>
          <a:noFill/>
        </p:spPr>
        <p:txBody>
          <a:bodyPr wrap="square">
            <a:spAutoFit/>
          </a:bodyPr>
          <a:lstStyle/>
          <a:p>
            <a:pPr algn="l">
              <a:spcBef>
                <a:spcPts val="0"/>
              </a:spcBef>
              <a:spcAft>
                <a:spcPts val="800"/>
              </a:spcAft>
            </a:pPr>
            <a:r>
              <a:rPr sz="1900" b="1" i="0">
                <a:solidFill>
                  <a:srgbClr val="F2C48A"/>
                </a:solidFill>
                <a:latin typeface="Helvetica Neue"/>
              </a:rPr>
              <a:t>Making the next one</a:t>
            </a:r>
          </a:p>
          <a:p>
            <a:pPr>
              <a:spcBef>
                <a:spcPts val="0"/>
              </a:spcBef>
              <a:spcAft>
                <a:spcPts val="800"/>
              </a:spcAft>
            </a:pPr>
            <a:r>
              <a:rPr sz="1450" b="0" i="0">
                <a:solidFill>
                  <a:srgbClr val="DCE5EC"/>
                </a:solidFill>
                <a:latin typeface="Helvetica Neue"/>
              </a:rPr>
              <a:t>Create a new sibling directory rather than editing this one:</a:t>
            </a:r>
          </a:p>
          <a:p>
            <a:pPr>
              <a:spcBef>
                <a:spcPts val="0"/>
              </a:spcBef>
              <a:spcAft>
                <a:spcPts val="1000"/>
              </a:spcAft>
            </a:pPr>
            <a:r>
              <a:rPr sz="1350" b="0" i="0">
                <a:solidFill>
                  <a:srgbClr val="FFFFFF"/>
                </a:solidFill>
                <a:latin typeface="Menlo"/>
              </a:rPr>
              <a:t>docs/presentation/&lt;UTC timestamp&gt;-&lt;short commit&gt;/</a:t>
            </a:r>
          </a:p>
          <a:p>
            <a:pPr>
              <a:spcBef>
                <a:spcPts val="0"/>
              </a:spcBef>
              <a:spcAft>
                <a:spcPts val="800"/>
              </a:spcAft>
            </a:pPr>
            <a:r>
              <a:rPr sz="1450" b="0" i="0">
                <a:solidFill>
                  <a:srgbClr val="DCE5EC"/>
                </a:solidFill>
                <a:latin typeface="Helvetica Neue"/>
              </a:rPr>
              <a:t>The timestamp sorts, the commit pins, and neither collides. An old deck keeps meaning what it meant when it was shown.</a:t>
            </a:r>
          </a:p>
          <a:p>
            <a:pPr>
              <a:spcBef>
                <a:spcPts val="0"/>
              </a:spcBef>
              <a:spcAft>
                <a:spcPts val="600"/>
              </a:spcAft>
            </a:pPr>
            <a:r>
              <a:rPr sz="1450" b="0" i="0">
                <a:solidFill>
                  <a:srgbClr val="8A98A6"/>
                </a:solidFill>
                <a:latin typeface="Helvetica Neue"/>
              </a:rPr>
              <a:t>See README.md in this directory for the exact render and build commands.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